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23360" y="0"/>
            <a:ext cx="411480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38160" y="0"/>
            <a:ext cx="4053535" cy="54864"/>
          </a:xfrm>
          <a:prstGeom prst="rect">
            <a:avLst/>
          </a:prstGeom>
          <a:solidFill>
            <a:srgbClr val="FF3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00D4FF"/>
                </a:solidFill>
                <a:latin typeface="Calibri"/>
              </a:defRPr>
            </a:pPr>
            <a:r>
              <a:t>VINCULUM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8ECF4"/>
                </a:solidFill>
                <a:latin typeface="Calibri"/>
              </a:defRPr>
            </a:pPr>
            <a:r>
              <a:t>5 Design Directions for the Math Solutions 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280"/>
                </a:solidFill>
                <a:latin typeface="Calibri"/>
              </a:defRPr>
            </a:pPr>
            <a:r>
              <a:t>Research-backed visual systems  ·  K-12 interface strategies  ·  Pedagogical alignment</a:t>
            </a:r>
          </a:p>
        </p:txBody>
      </p:sp>
      <p:sp>
        <p:nvSpPr>
          <p:cNvPr id="8" name="Oval 7"/>
          <p:cNvSpPr/>
          <p:nvPr/>
        </p:nvSpPr>
        <p:spPr>
          <a:xfrm>
            <a:off x="4480560" y="5029200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212080" y="5029200"/>
            <a:ext cx="457200" cy="457200"/>
          </a:xfrm>
          <a:prstGeom prst="ellipse">
            <a:avLst/>
          </a:prstGeom>
          <a:solidFill>
            <a:srgbClr val="FF3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943600" y="5029200"/>
            <a:ext cx="457200" cy="45720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75120" y="5029200"/>
            <a:ext cx="457200" cy="4572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406640" y="5029200"/>
            <a:ext cx="457200" cy="45720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  <a:latin typeface="Calibri"/>
              </a:defRPr>
            </a:pPr>
            <a:r>
              <a:t>WHERE WE ARE NOW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029200" cy="5029200"/>
          </a:xfrm>
          <a:prstGeom prst="roundRect">
            <a:avLst/>
          </a:prstGeom>
          <a:solidFill>
            <a:srgbClr val="141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5544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3B8B"/>
                </a:solidFill>
                <a:latin typeface="Calibri"/>
              </a:defRPr>
            </a:pPr>
            <a:r>
              <a:t>45+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6002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8B8"/>
                </a:solidFill>
                <a:latin typeface="Calibri"/>
              </a:defRPr>
            </a:pPr>
            <a:r>
              <a:t>Self-contained HTML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6517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3B8B"/>
                </a:solidFill>
                <a:latin typeface="Calibri"/>
              </a:defRPr>
            </a:pPr>
            <a:r>
              <a:t>K-2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69747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8B8"/>
                </a:solidFill>
                <a:latin typeface="Calibri"/>
              </a:defRPr>
            </a:pPr>
            <a:r>
              <a:t>Grade coverage (expanding)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749039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3B8B"/>
                </a:solidFill>
                <a:latin typeface="Calibri"/>
              </a:defRPr>
            </a:pPr>
            <a:r>
              <a:t>CRA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379475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8B8"/>
                </a:solidFill>
                <a:latin typeface="Calibri"/>
              </a:defRPr>
            </a:pPr>
            <a:r>
              <a:t>Explore → Practice → Play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8463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3B8B"/>
                </a:solidFill>
                <a:latin typeface="Calibri"/>
              </a:defRPr>
            </a:pPr>
            <a:r>
              <a:t>3 tiers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48920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8B8"/>
                </a:solidFill>
                <a:latin typeface="Calibri"/>
              </a:defRPr>
            </a:pPr>
            <a:r>
              <a:t>Emergent / Proficient / Advanced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280160"/>
            <a:ext cx="5029200" cy="5029200"/>
          </a:xfrm>
          <a:prstGeom prst="roundRect">
            <a:avLst/>
          </a:prstGeom>
          <a:solidFill>
            <a:srgbClr val="141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14630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Calibri"/>
              </a:defRPr>
            </a:pPr>
            <a:r>
              <a:t>RESEARCH SAYS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10312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CF4"/>
                </a:solidFill>
                <a:latin typeface="Calibri"/>
              </a:defRPr>
            </a:pPr>
            <a:r>
              <a:t>→  Gamification effect size: 0.822 (very large) when paired with sound instruction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74320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CF4"/>
                </a:solidFill>
                <a:latin typeface="Calibri"/>
              </a:defRPr>
            </a:pPr>
            <a:r>
              <a:t>→  8-10 min engagement windows optimal for ages 5-7; celebration breaks matter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383279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CF4"/>
                </a:solidFill>
                <a:latin typeface="Calibri"/>
              </a:defRPr>
            </a:pPr>
            <a:r>
              <a:t>→  Minimum 48×48dp touch targets; 64px gaps for developing motor skills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4023359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CF4"/>
                </a:solidFill>
                <a:latin typeface="Calibri"/>
              </a:defRPr>
            </a:pPr>
            <a:r>
              <a:t>→  Rounded sans-serif fonts at 24pt+ for early readers; spacing affects comprehension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466344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CF4"/>
                </a:solidFill>
                <a:latin typeface="Calibri"/>
              </a:defRPr>
            </a:pPr>
            <a:r>
              <a:t>→  Blue/green calming base + warm accents reduces overstimulation vs. all-bright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5303520"/>
            <a:ext cx="4206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8ECF4"/>
                </a:solidFill>
                <a:latin typeface="Calibri"/>
              </a:defRPr>
            </a:pPr>
            <a:r>
              <a:t>→  Multiple simultaneous representations (CRA at once) outperform sequential modes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463040" cy="36576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A0E1A"/>
                </a:solidFill>
                <a:latin typeface="Calibri"/>
              </a:defRPr>
            </a:pPr>
            <a:r>
              <a:t>LOOK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3200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  <a:latin typeface="Calibri"/>
              </a:defRPr>
            </a:pPr>
            <a:r>
              <a:t>NEON ARCADE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777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Dark canvas, glowing accents, game-energy — our current DNA, refined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822960" cy="457200"/>
          </a:xfrm>
          <a:prstGeom prst="rect">
            <a:avLst/>
          </a:prstGeom>
          <a:solidFill>
            <a:srgbClr val="0A0E1A"/>
          </a:solidFill>
          <a:ln w="12700">
            <a:solidFill>
              <a:srgbClr val="2A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Calibri"/>
              </a:defRPr>
            </a:pPr>
            <a:r>
              <a:t>Base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1371600"/>
            <a:ext cx="822960" cy="457200"/>
          </a:xfrm>
          <a:prstGeom prst="rect">
            <a:avLst/>
          </a:prstGeom>
          <a:solidFill>
            <a:srgbClr val="141926"/>
          </a:solidFill>
          <a:ln w="12700">
            <a:solidFill>
              <a:srgbClr val="2A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1874519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Calibri"/>
              </a:defRPr>
            </a:pPr>
            <a:r>
              <a:t>Card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1371600"/>
            <a:ext cx="822960" cy="457200"/>
          </a:xfrm>
          <a:prstGeom prst="rect">
            <a:avLst/>
          </a:prstGeom>
          <a:solidFill>
            <a:srgbClr val="00D4FF"/>
          </a:solidFill>
          <a:ln w="12700">
            <a:solidFill>
              <a:srgbClr val="2A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1874519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Calibri"/>
              </a:defRPr>
            </a:pPr>
            <a:r>
              <a:t>Cyan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49040" y="1371600"/>
            <a:ext cx="822960" cy="457200"/>
          </a:xfrm>
          <a:prstGeom prst="rect">
            <a:avLst/>
          </a:prstGeom>
          <a:solidFill>
            <a:srgbClr val="FF3B8B"/>
          </a:solidFill>
          <a:ln w="12700">
            <a:solidFill>
              <a:srgbClr val="2A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0" y="1874519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Calibri"/>
              </a:defRPr>
            </a:pPr>
            <a:r>
              <a:t>Pink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1371600"/>
            <a:ext cx="822960" cy="457200"/>
          </a:xfrm>
          <a:prstGeom prst="rect">
            <a:avLst/>
          </a:prstGeom>
          <a:solidFill>
            <a:srgbClr val="00E676"/>
          </a:solidFill>
          <a:ln w="12700">
            <a:solidFill>
              <a:srgbClr val="2A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1874519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Calibri"/>
              </a:defRPr>
            </a:pPr>
            <a:r>
              <a:t>Green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720" y="1371600"/>
            <a:ext cx="822960" cy="457200"/>
          </a:xfrm>
          <a:prstGeom prst="rect">
            <a:avLst/>
          </a:prstGeom>
          <a:solidFill>
            <a:srgbClr val="A78BFA"/>
          </a:solidFill>
          <a:ln w="12700">
            <a:solidFill>
              <a:srgbClr val="2A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0" y="1874519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Calibri"/>
              </a:defRPr>
            </a:pPr>
            <a:r>
              <a:t>Purple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377440"/>
            <a:ext cx="5303520" cy="4023360"/>
          </a:xfrm>
          <a:prstGeom prst="roundRect">
            <a:avLst/>
          </a:prstGeom>
          <a:solidFill>
            <a:srgbClr val="141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2560320"/>
            <a:ext cx="4937760" cy="4572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258775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D4FF"/>
                </a:solidFill>
                <a:latin typeface="Calibri"/>
              </a:defRPr>
            </a:pPr>
            <a:r>
              <a:t>◀ Hub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258775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ECF4"/>
                </a:solidFill>
                <a:latin typeface="Calibri"/>
              </a:defRPr>
            </a:pPr>
            <a:r>
              <a:t>Number Bonds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3200400"/>
            <a:ext cx="1280160" cy="32004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321868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A0E1A"/>
                </a:solidFill>
                <a:latin typeface="Calibri"/>
              </a:defRPr>
            </a:pPr>
            <a:r>
              <a:t>Explore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60320" y="3200400"/>
            <a:ext cx="1280160" cy="32004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60320" y="321868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A0E1A"/>
                </a:solidFill>
                <a:latin typeface="Calibri"/>
              </a:defRPr>
            </a:pPr>
            <a:r>
              <a:t>Practice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23360" y="3200400"/>
            <a:ext cx="1280160" cy="320040"/>
          </a:xfrm>
          <a:prstGeom prst="roundRect">
            <a:avLst/>
          </a:prstGeom>
          <a:solidFill>
            <a:srgbClr val="FF3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23360" y="321868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A0E1A"/>
                </a:solidFill>
                <a:latin typeface="Calibri"/>
              </a:defRPr>
            </a:pPr>
            <a:r>
              <a:t>Play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3749039"/>
            <a:ext cx="4937760" cy="237744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743200" y="4023360"/>
            <a:ext cx="640080" cy="64008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41148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A0E1A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2" name="Oval 31"/>
          <p:cNvSpPr/>
          <p:nvPr/>
        </p:nvSpPr>
        <p:spPr>
          <a:xfrm>
            <a:off x="1828800" y="5029200"/>
            <a:ext cx="548640" cy="548640"/>
          </a:xfrm>
          <a:prstGeom prst="ellipse">
            <a:avLst/>
          </a:prstGeom>
          <a:solidFill>
            <a:srgbClr val="FF3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28800" y="509320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4" name="Oval 33"/>
          <p:cNvSpPr/>
          <p:nvPr/>
        </p:nvSpPr>
        <p:spPr>
          <a:xfrm>
            <a:off x="3657600" y="5029200"/>
            <a:ext cx="548640" cy="54864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0" y="509320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A0E1A"/>
                </a:solidFill>
                <a:latin typeface="Calibri"/>
              </a:defRPr>
            </a:pPr>
            <a:r>
              <a:t>?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2377440"/>
            <a:ext cx="5029200" cy="4023360"/>
          </a:xfrm>
          <a:prstGeom prst="roundRect">
            <a:avLst/>
          </a:prstGeom>
          <a:solidFill>
            <a:srgbClr val="141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0" y="25603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Calibri"/>
              </a:defRPr>
            </a:pPr>
            <a:r>
              <a:t>STRENGTHS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301752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CF4"/>
                </a:solidFill>
                <a:latin typeface="Calibri"/>
              </a:defRPr>
            </a:pPr>
            <a:r>
              <a:t>✓  High engagement — game-like feel draws students in immediately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0" y="3520439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CF4"/>
                </a:solidFill>
                <a:latin typeface="Calibri"/>
              </a:defRPr>
            </a:pPr>
            <a:r>
              <a:t>✓  Strong visual hierarchy — glowing accents guide attention to interactive elements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402336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CF4"/>
                </a:solidFill>
                <a:latin typeface="Calibri"/>
              </a:defRPr>
            </a:pPr>
            <a:r>
              <a:t>✓  Dark background reduces eye strain during extended use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0" y="452628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8ECF4"/>
                </a:solidFill>
                <a:latin typeface="Calibri"/>
              </a:defRPr>
            </a:pPr>
            <a:r>
              <a:t>✓  Already built — 45+ tools use this system consistently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50292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Calibri"/>
              </a:defRPr>
            </a:pPr>
            <a:r>
              <a:t>CONSIDERATIONS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6560" y="54864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BBF24"/>
                </a:solidFill>
                <a:latin typeface="Calibri"/>
              </a:defRPr>
            </a:pPr>
            <a:r>
              <a:t>⚠  Can feel intense for youngest learners (K); overstimulation risk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0" y="59436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BBF24"/>
                </a:solidFill>
                <a:latin typeface="Calibri"/>
              </a:defRPr>
            </a:pPr>
            <a:r>
              <a:t>⚠  Dark theme less familiar to classroom/school device settings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463040" cy="36576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LOOK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3200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D3142"/>
                </a:solidFill>
                <a:latin typeface="Georgia"/>
              </a:defRPr>
            </a:pPr>
            <a:r>
              <a:t>SUNRISE CLASSROOM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777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7355"/>
                </a:solidFill>
                <a:latin typeface="Calibri"/>
              </a:defRPr>
            </a:pPr>
            <a:r>
              <a:t>Warm, inviting, classroom-familiar — like opening a new math workbook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822960" cy="457200"/>
          </a:xfrm>
          <a:prstGeom prst="rect">
            <a:avLst/>
          </a:prstGeom>
          <a:solidFill>
            <a:srgbClr val="FFF8F0"/>
          </a:solidFill>
          <a:ln w="12700">
            <a:solidFill>
              <a:srgbClr val="D4C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B7355"/>
                </a:solidFill>
                <a:latin typeface="Calibri"/>
              </a:defRPr>
            </a:pPr>
            <a:r>
              <a:t>Cream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1371600"/>
            <a:ext cx="822960" cy="457200"/>
          </a:xfrm>
          <a:prstGeom prst="rect">
            <a:avLst/>
          </a:prstGeom>
          <a:solidFill>
            <a:srgbClr val="FFECD2"/>
          </a:solidFill>
          <a:ln w="12700">
            <a:solidFill>
              <a:srgbClr val="D4C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1874519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B7355"/>
                </a:solidFill>
                <a:latin typeface="Calibri"/>
              </a:defRPr>
            </a:pPr>
            <a:r>
              <a:t>Peach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1371600"/>
            <a:ext cx="822960" cy="457200"/>
          </a:xfrm>
          <a:prstGeom prst="rect">
            <a:avLst/>
          </a:prstGeom>
          <a:solidFill>
            <a:srgbClr val="FF6B35"/>
          </a:solidFill>
          <a:ln w="12700">
            <a:solidFill>
              <a:srgbClr val="D4C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1874519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B7355"/>
                </a:solidFill>
                <a:latin typeface="Calibri"/>
              </a:defRPr>
            </a:pPr>
            <a:r>
              <a:t>Orange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49040" y="1371600"/>
            <a:ext cx="822960" cy="457200"/>
          </a:xfrm>
          <a:prstGeom prst="rect">
            <a:avLst/>
          </a:prstGeom>
          <a:solidFill>
            <a:srgbClr val="2D3142"/>
          </a:solidFill>
          <a:ln w="12700">
            <a:solidFill>
              <a:srgbClr val="D4C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0" y="1874519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B7355"/>
                </a:solidFill>
                <a:latin typeface="Calibri"/>
              </a:defRPr>
            </a:pPr>
            <a:r>
              <a:t>Charcoal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1371600"/>
            <a:ext cx="822960" cy="457200"/>
          </a:xfrm>
          <a:prstGeom prst="rect">
            <a:avLst/>
          </a:prstGeom>
          <a:solidFill>
            <a:srgbClr val="4ECDC4"/>
          </a:solidFill>
          <a:ln w="12700">
            <a:solidFill>
              <a:srgbClr val="D4C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1874519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B7355"/>
                </a:solidFill>
                <a:latin typeface="Calibri"/>
              </a:defRPr>
            </a:pPr>
            <a:r>
              <a:t>Teal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720" y="1371600"/>
            <a:ext cx="822960" cy="457200"/>
          </a:xfrm>
          <a:prstGeom prst="rect">
            <a:avLst/>
          </a:prstGeom>
          <a:solidFill>
            <a:srgbClr val="95E08E"/>
          </a:solidFill>
          <a:ln w="12700">
            <a:solidFill>
              <a:srgbClr val="D4C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0" y="1874519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B7355"/>
                </a:solidFill>
                <a:latin typeface="Calibri"/>
              </a:defRPr>
            </a:pPr>
            <a:r>
              <a:t>Leaf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377440"/>
            <a:ext cx="530352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2560320"/>
            <a:ext cx="4937760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258775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← Hub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258775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Georgia"/>
              </a:defRPr>
            </a:pPr>
            <a:r>
              <a:t>Number Bonds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3200400"/>
            <a:ext cx="1280160" cy="320040"/>
          </a:xfrm>
          <a:prstGeom prst="round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321868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D3142"/>
                </a:solidFill>
                <a:latin typeface="Calibri"/>
              </a:defRPr>
            </a:pPr>
            <a:r>
              <a:t>Explore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60320" y="3200400"/>
            <a:ext cx="1280160" cy="32004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60320" y="321868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D3142"/>
                </a:solidFill>
                <a:latin typeface="Calibri"/>
              </a:defRPr>
            </a:pPr>
            <a:r>
              <a:t>Practice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23360" y="3200400"/>
            <a:ext cx="1280160" cy="320040"/>
          </a:xfrm>
          <a:prstGeom prst="roundRect">
            <a:avLst/>
          </a:prstGeom>
          <a:solidFill>
            <a:srgbClr val="95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23360" y="321868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D3142"/>
                </a:solidFill>
                <a:latin typeface="Calibri"/>
              </a:defRPr>
            </a:pPr>
            <a:r>
              <a:t>Play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3749039"/>
            <a:ext cx="4937760" cy="237744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743200" y="4023360"/>
            <a:ext cx="640080" cy="64008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41148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2" name="Oval 31"/>
          <p:cNvSpPr/>
          <p:nvPr/>
        </p:nvSpPr>
        <p:spPr>
          <a:xfrm>
            <a:off x="1828800" y="5029200"/>
            <a:ext cx="548640" cy="54864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28800" y="509320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D3142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4" name="Oval 33"/>
          <p:cNvSpPr/>
          <p:nvPr/>
        </p:nvSpPr>
        <p:spPr>
          <a:xfrm>
            <a:off x="3657600" y="5029200"/>
            <a:ext cx="548640" cy="548640"/>
          </a:xfrm>
          <a:prstGeom prst="ellipse">
            <a:avLst/>
          </a:prstGeom>
          <a:solidFill>
            <a:srgbClr val="95E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0" y="509320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D3142"/>
                </a:solidFill>
                <a:latin typeface="Calibri"/>
              </a:defRPr>
            </a:pPr>
            <a:r>
              <a:t>?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2377440"/>
            <a:ext cx="502920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0" y="25603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DC4"/>
                </a:solidFill>
                <a:latin typeface="Calibri"/>
              </a:defRPr>
            </a:pPr>
            <a:r>
              <a:t>STRENGTHS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301752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142"/>
                </a:solidFill>
                <a:latin typeface="Calibri"/>
              </a:defRPr>
            </a:pPr>
            <a:r>
              <a:t>✓  Classroom-familiar: matches workbooks, whiteboards, school devices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0" y="3520439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142"/>
                </a:solidFill>
                <a:latin typeface="Calibri"/>
              </a:defRPr>
            </a:pPr>
            <a:r>
              <a:t>✓  Warm tones promote comfort and reduce math anxiety (research-backed)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402336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142"/>
                </a:solidFill>
                <a:latin typeface="Calibri"/>
              </a:defRPr>
            </a:pPr>
            <a:r>
              <a:t>✓  Light background easier on school projectors and Chromebooks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0" y="452628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142"/>
                </a:solidFill>
                <a:latin typeface="Calibri"/>
              </a:defRPr>
            </a:pPr>
            <a:r>
              <a:t>✓  Feels 'teacher-approved' — parents and admins trust it immediately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50292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Calibri"/>
              </a:defRPr>
            </a:pPr>
            <a:r>
              <a:t>CONSIDERATIONS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6560" y="54864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6B35"/>
                </a:solidFill>
                <a:latin typeface="Calibri"/>
              </a:defRPr>
            </a:pPr>
            <a:r>
              <a:t>⚠  Less 'wow factor' — students may see it as another worksheet tool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0" y="59436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6B35"/>
                </a:solidFill>
                <a:latin typeface="Calibri"/>
              </a:defRPr>
            </a:pPr>
            <a:r>
              <a:t>⚠  Complete visual departure from current 45+ tools (migration cost)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463040" cy="36576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B1D33"/>
                </a:solidFill>
                <a:latin typeface="Calibri"/>
              </a:defRPr>
            </a:pPr>
            <a:r>
              <a:t>LOOK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3200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B4D8"/>
                </a:solidFill>
                <a:latin typeface="Calibri"/>
              </a:defRPr>
            </a:pPr>
            <a:r>
              <a:t>OCEAN EXPLORER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777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E8BA0"/>
                </a:solidFill>
                <a:latin typeface="Calibri"/>
              </a:defRPr>
            </a:pPr>
            <a:r>
              <a:t>Calming blues + aqua accents — research-optimal for focus and sustained learning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822960" cy="457200"/>
          </a:xfrm>
          <a:prstGeom prst="rect">
            <a:avLst/>
          </a:prstGeom>
          <a:solidFill>
            <a:srgbClr val="0B1D33"/>
          </a:solidFill>
          <a:ln w="12700">
            <a:solidFill>
              <a:srgbClr val="1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E8BA0"/>
                </a:solidFill>
                <a:latin typeface="Calibri"/>
              </a:defRPr>
            </a:pPr>
            <a:r>
              <a:t>Deep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1371600"/>
            <a:ext cx="822960" cy="457200"/>
          </a:xfrm>
          <a:prstGeom prst="rect">
            <a:avLst/>
          </a:prstGeom>
          <a:solidFill>
            <a:srgbClr val="132D4A"/>
          </a:solidFill>
          <a:ln w="12700">
            <a:solidFill>
              <a:srgbClr val="1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1874519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E8BA0"/>
                </a:solidFill>
                <a:latin typeface="Calibri"/>
              </a:defRPr>
            </a:pPr>
            <a:r>
              <a:t>Navy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1371600"/>
            <a:ext cx="82296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1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1874519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E8BA0"/>
                </a:solidFill>
                <a:latin typeface="Calibri"/>
              </a:defRPr>
            </a:pPr>
            <a:r>
              <a:t>Aqua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49040" y="1371600"/>
            <a:ext cx="822960" cy="457200"/>
          </a:xfrm>
          <a:prstGeom prst="rect">
            <a:avLst/>
          </a:prstGeom>
          <a:solidFill>
            <a:srgbClr val="48CAE4"/>
          </a:solidFill>
          <a:ln w="12700">
            <a:solidFill>
              <a:srgbClr val="1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0" y="1874519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E8BA0"/>
                </a:solidFill>
                <a:latin typeface="Calibri"/>
              </a:defRPr>
            </a:pPr>
            <a:r>
              <a:t>Sky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1371600"/>
            <a:ext cx="822960" cy="457200"/>
          </a:xfrm>
          <a:prstGeom prst="rect">
            <a:avLst/>
          </a:prstGeom>
          <a:solidFill>
            <a:srgbClr val="90E0EF"/>
          </a:solidFill>
          <a:ln w="12700">
            <a:solidFill>
              <a:srgbClr val="1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1874519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E8BA0"/>
                </a:solidFill>
                <a:latin typeface="Calibri"/>
              </a:defRPr>
            </a:pPr>
            <a:r>
              <a:t>Foam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720" y="1371600"/>
            <a:ext cx="822960" cy="457200"/>
          </a:xfrm>
          <a:prstGeom prst="rect">
            <a:avLst/>
          </a:prstGeom>
          <a:solidFill>
            <a:srgbClr val="FFD166"/>
          </a:solidFill>
          <a:ln w="12700">
            <a:solidFill>
              <a:srgbClr val="1A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0" y="1874519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E8BA0"/>
                </a:solidFill>
                <a:latin typeface="Calibri"/>
              </a:defRPr>
            </a:pPr>
            <a:r>
              <a:t>Gold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377440"/>
            <a:ext cx="5303520" cy="4023360"/>
          </a:xfrm>
          <a:prstGeom prst="roundRect">
            <a:avLst/>
          </a:prstGeom>
          <a:solidFill>
            <a:srgbClr val="13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2560320"/>
            <a:ext cx="4937760" cy="457200"/>
          </a:xfrm>
          <a:prstGeom prst="rect">
            <a:avLst/>
          </a:prstGeom>
          <a:solidFill>
            <a:srgbClr val="0B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258775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B4D8"/>
                </a:solidFill>
                <a:latin typeface="Calibri"/>
              </a:defRPr>
            </a:pPr>
            <a:r>
              <a:t>◀ Hub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258775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0F4FF"/>
                </a:solidFill>
                <a:latin typeface="Calibri"/>
              </a:defRPr>
            </a:pPr>
            <a:r>
              <a:t>Number Bonds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3200400"/>
            <a:ext cx="1280160" cy="32004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321868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B1D33"/>
                </a:solidFill>
                <a:latin typeface="Calibri"/>
              </a:defRPr>
            </a:pPr>
            <a:r>
              <a:t>Explore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60320" y="3200400"/>
            <a:ext cx="1280160" cy="320040"/>
          </a:xfrm>
          <a:prstGeom prst="round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60320" y="321868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B1D33"/>
                </a:solidFill>
                <a:latin typeface="Calibri"/>
              </a:defRPr>
            </a:pPr>
            <a:r>
              <a:t>Practice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23360" y="3200400"/>
            <a:ext cx="1280160" cy="320040"/>
          </a:xfrm>
          <a:prstGeom prst="round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23360" y="321868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B1D33"/>
                </a:solidFill>
                <a:latin typeface="Calibri"/>
              </a:defRPr>
            </a:pPr>
            <a:r>
              <a:t>Play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3749039"/>
            <a:ext cx="4937760" cy="2377440"/>
          </a:xfrm>
          <a:prstGeom prst="rect">
            <a:avLst/>
          </a:prstGeom>
          <a:solidFill>
            <a:srgbClr val="0B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743200" y="4023360"/>
            <a:ext cx="640080" cy="64008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41148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B1D33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2" name="Oval 31"/>
          <p:cNvSpPr/>
          <p:nvPr/>
        </p:nvSpPr>
        <p:spPr>
          <a:xfrm>
            <a:off x="1828800" y="5029200"/>
            <a:ext cx="548640" cy="548640"/>
          </a:xfrm>
          <a:prstGeom prst="ellipse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28800" y="509320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B1D33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4" name="Oval 33"/>
          <p:cNvSpPr/>
          <p:nvPr/>
        </p:nvSpPr>
        <p:spPr>
          <a:xfrm>
            <a:off x="3657600" y="5029200"/>
            <a:ext cx="548640" cy="548640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0" y="509320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B1D33"/>
                </a:solidFill>
                <a:latin typeface="Calibri"/>
              </a:defRPr>
            </a:pPr>
            <a:r>
              <a:t>?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2377440"/>
            <a:ext cx="5029200" cy="4023360"/>
          </a:xfrm>
          <a:prstGeom prst="roundRect">
            <a:avLst/>
          </a:prstGeom>
          <a:solidFill>
            <a:srgbClr val="13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0" y="25603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0E0EF"/>
                </a:solidFill>
                <a:latin typeface="Calibri"/>
              </a:defRPr>
            </a:pPr>
            <a:r>
              <a:t>STRENGTHS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301752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F4FF"/>
                </a:solidFill>
                <a:latin typeface="Calibri"/>
              </a:defRPr>
            </a:pPr>
            <a:r>
              <a:t>✓  Blue-green palette is #1 research-recommended for sustained focus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0" y="3520439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F4FF"/>
                </a:solidFill>
                <a:latin typeface="Calibri"/>
              </a:defRPr>
            </a:pPr>
            <a:r>
              <a:t>✓  Monochromatic harmony feels cohesive and professional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402336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F4FF"/>
                </a:solidFill>
                <a:latin typeface="Calibri"/>
              </a:defRPr>
            </a:pPr>
            <a:r>
              <a:t>✓  Gold accent for key interactions creates clear visual priority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0" y="452628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F4FF"/>
                </a:solidFill>
                <a:latin typeface="Calibri"/>
              </a:defRPr>
            </a:pPr>
            <a:r>
              <a:t>✓  Calming environment reduces math anxiety for struggling learners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50292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166"/>
                </a:solidFill>
                <a:latin typeface="Calibri"/>
              </a:defRPr>
            </a:pPr>
            <a:r>
              <a:t>CONSIDERATIONS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6560" y="54864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D166"/>
                </a:solidFill>
                <a:latin typeface="Calibri"/>
              </a:defRPr>
            </a:pPr>
            <a:r>
              <a:t>⚠  Tonal range is narrow — harder to differentiate tool categories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0" y="59436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D166"/>
                </a:solidFill>
                <a:latin typeface="Calibri"/>
              </a:defRPr>
            </a:pPr>
            <a:r>
              <a:t>⚠  May feel too 'cool' for K students who respond to warm colors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A5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463040" cy="365760"/>
          </a:xfrm>
          <a:prstGeom prst="roundRect">
            <a:avLst/>
          </a:prstGeom>
          <a:solidFill>
            <a:srgbClr val="4A5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LOOK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3200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Calibri"/>
              </a:defRPr>
            </a:pPr>
            <a:r>
              <a:t>MATH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777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E8E93"/>
                </a:solidFill>
                <a:latin typeface="Calibri"/>
              </a:defRPr>
            </a:pPr>
            <a:r>
              <a:t>Clean, modern, Apple-inspired — tools feel precise and trustworthy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822960" cy="457200"/>
          </a:xfrm>
          <a:prstGeom prst="rect">
            <a:avLst/>
          </a:prstGeom>
          <a:solidFill>
            <a:srgbClr val="F5F5F7"/>
          </a:solidFill>
          <a:ln w="12700">
            <a:solidFill>
              <a:srgbClr val="D1D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E8E93"/>
                </a:solidFill>
                <a:latin typeface="Calibri"/>
              </a:defRPr>
            </a:pPr>
            <a:r>
              <a:t>Snow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1371600"/>
            <a:ext cx="822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1874519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E8E93"/>
                </a:solidFill>
                <a:latin typeface="Calibri"/>
              </a:defRPr>
            </a:pPr>
            <a:r>
              <a:t>White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1371600"/>
            <a:ext cx="822960" cy="457200"/>
          </a:xfrm>
          <a:prstGeom prst="rect">
            <a:avLst/>
          </a:prstGeom>
          <a:solidFill>
            <a:srgbClr val="4A56E2"/>
          </a:solidFill>
          <a:ln w="12700">
            <a:solidFill>
              <a:srgbClr val="D1D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1874519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E8E93"/>
                </a:solidFill>
                <a:latin typeface="Calibri"/>
              </a:defRPr>
            </a:pPr>
            <a:r>
              <a:t>Indigo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49040" y="1371600"/>
            <a:ext cx="822960" cy="457200"/>
          </a:xfrm>
          <a:prstGeom prst="rect">
            <a:avLst/>
          </a:prstGeom>
          <a:solidFill>
            <a:srgbClr val="FF3B30"/>
          </a:solidFill>
          <a:ln w="12700">
            <a:solidFill>
              <a:srgbClr val="D1D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0" y="1874519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E8E93"/>
                </a:solidFill>
                <a:latin typeface="Calibri"/>
              </a:defRPr>
            </a:pPr>
            <a:r>
              <a:t>Red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1371600"/>
            <a:ext cx="822960" cy="457200"/>
          </a:xfrm>
          <a:prstGeom prst="rect">
            <a:avLst/>
          </a:prstGeom>
          <a:solidFill>
            <a:srgbClr val="34C759"/>
          </a:solidFill>
          <a:ln w="12700">
            <a:solidFill>
              <a:srgbClr val="D1D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1874519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E8E93"/>
                </a:solidFill>
                <a:latin typeface="Calibri"/>
              </a:defRPr>
            </a:pPr>
            <a:r>
              <a:t>Green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720" y="1371600"/>
            <a:ext cx="82296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D1D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0" y="1874519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E8E93"/>
                </a:solidFill>
                <a:latin typeface="Calibri"/>
              </a:defRPr>
            </a:pPr>
            <a:r>
              <a:t>Ink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377440"/>
            <a:ext cx="530352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2560320"/>
            <a:ext cx="4937760" cy="457200"/>
          </a:xfrm>
          <a:prstGeom prst="rect">
            <a:avLst/>
          </a:prstGeom>
          <a:solidFill>
            <a:srgbClr val="4A5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258775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← Hub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258775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Number Bonds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3200400"/>
            <a:ext cx="1280160" cy="320040"/>
          </a:xfrm>
          <a:prstGeom prst="roundRect">
            <a:avLst/>
          </a:prstGeom>
          <a:solidFill>
            <a:srgbClr val="4A5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321868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Explore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60320" y="3200400"/>
            <a:ext cx="1280160" cy="3200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60320" y="321868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Practice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23360" y="3200400"/>
            <a:ext cx="1280160" cy="320040"/>
          </a:xfrm>
          <a:prstGeom prst="round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23360" y="321868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Play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3749039"/>
            <a:ext cx="4937760" cy="2377440"/>
          </a:xfrm>
          <a:prstGeom prst="rect">
            <a:avLst/>
          </a:prstGeom>
          <a:solidFill>
            <a:srgbClr val="F5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743200" y="4023360"/>
            <a:ext cx="640080" cy="640080"/>
          </a:xfrm>
          <a:prstGeom prst="ellipse">
            <a:avLst/>
          </a:prstGeom>
          <a:solidFill>
            <a:srgbClr val="4A5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41148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2" name="Oval 31"/>
          <p:cNvSpPr/>
          <p:nvPr/>
        </p:nvSpPr>
        <p:spPr>
          <a:xfrm>
            <a:off x="1828800" y="5029200"/>
            <a:ext cx="548640" cy="548640"/>
          </a:xfrm>
          <a:prstGeom prst="ellipse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28800" y="509320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4" name="Oval 33"/>
          <p:cNvSpPr/>
          <p:nvPr/>
        </p:nvSpPr>
        <p:spPr>
          <a:xfrm>
            <a:off x="3657600" y="5029200"/>
            <a:ext cx="548640" cy="548640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0" y="509320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?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2377440"/>
            <a:ext cx="5029200" cy="40233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0" y="25603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C759"/>
                </a:solidFill>
                <a:latin typeface="Calibri"/>
              </a:defRPr>
            </a:pPr>
            <a:r>
              <a:t>STRENGTHS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301752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✓  Maximum readability — black-on-white is highest contrast possible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0" y="3520439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✓  Looks professional for admin demos, school board presentations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402336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✓  Matches iPad/Chromebook native UI — feels 'built-in' to devices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0" y="452628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✓  Bold primary accents (indigo, red, green) create clear meaning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50292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3B30"/>
                </a:solidFill>
                <a:latin typeface="Calibri"/>
              </a:defRPr>
            </a:pPr>
            <a:r>
              <a:t>CONSIDERATIONS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6560" y="54864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3B30"/>
                </a:solidFill>
                <a:latin typeface="Calibri"/>
              </a:defRPr>
            </a:pPr>
            <a:r>
              <a:t>⚠  Can feel clinical — less playful energy for young students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0" y="59436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3B30"/>
                </a:solidFill>
                <a:latin typeface="Calibri"/>
              </a:defRPr>
            </a:pPr>
            <a:r>
              <a:t>⚠  White backgrounds cause more eye fatigue in long sessions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D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1463040" cy="365760"/>
          </a:xfrm>
          <a:prstGeom prst="round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LOOK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3200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D2B1F"/>
                </a:solidFill>
                <a:latin typeface="Georgia"/>
              </a:defRPr>
            </a:pPr>
            <a:r>
              <a:t>NATURE WORKSHOP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777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7D6B"/>
                </a:solidFill>
                <a:latin typeface="Calibri"/>
              </a:defRPr>
            </a:pPr>
            <a:r>
              <a:t>Earthy, warm, Montessori-inspired — manipulatives feel like real wooden tools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822960" cy="457200"/>
          </a:xfrm>
          <a:prstGeom prst="rect">
            <a:avLst/>
          </a:prstGeom>
          <a:solidFill>
            <a:srgbClr val="F4EDE4"/>
          </a:solidFill>
          <a:ln w="12700">
            <a:solidFill>
              <a:srgbClr val="C4B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B7D6B"/>
                </a:solidFill>
                <a:latin typeface="Calibri"/>
              </a:defRPr>
            </a:pPr>
            <a:r>
              <a:t>Linen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1371600"/>
            <a:ext cx="822960" cy="457200"/>
          </a:xfrm>
          <a:prstGeom prst="rect">
            <a:avLst/>
          </a:prstGeom>
          <a:solidFill>
            <a:srgbClr val="E8D5C4"/>
          </a:solidFill>
          <a:ln w="12700">
            <a:solidFill>
              <a:srgbClr val="C4B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1874519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B7D6B"/>
                </a:solidFill>
                <a:latin typeface="Calibri"/>
              </a:defRPr>
            </a:pPr>
            <a:r>
              <a:t>Wood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1371600"/>
            <a:ext cx="822960" cy="457200"/>
          </a:xfrm>
          <a:prstGeom prst="rect">
            <a:avLst/>
          </a:prstGeom>
          <a:solidFill>
            <a:srgbClr val="6B8F71"/>
          </a:solidFill>
          <a:ln w="12700">
            <a:solidFill>
              <a:srgbClr val="C4B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1874519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B7D6B"/>
                </a:solidFill>
                <a:latin typeface="Calibri"/>
              </a:defRPr>
            </a:pPr>
            <a:r>
              <a:t>Sage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49040" y="1371600"/>
            <a:ext cx="822960" cy="457200"/>
          </a:xfrm>
          <a:prstGeom prst="rect">
            <a:avLst/>
          </a:prstGeom>
          <a:solidFill>
            <a:srgbClr val="C17F59"/>
          </a:solidFill>
          <a:ln w="12700">
            <a:solidFill>
              <a:srgbClr val="C4B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0" y="1874519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B7D6B"/>
                </a:solidFill>
                <a:latin typeface="Calibri"/>
              </a:defRPr>
            </a:pPr>
            <a:r>
              <a:t>Terra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1371600"/>
            <a:ext cx="822960" cy="457200"/>
          </a:xfrm>
          <a:prstGeom prst="rect">
            <a:avLst/>
          </a:prstGeom>
          <a:solidFill>
            <a:srgbClr val="9B7653"/>
          </a:solidFill>
          <a:ln w="12700">
            <a:solidFill>
              <a:srgbClr val="C4B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1874519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B7D6B"/>
                </a:solidFill>
                <a:latin typeface="Calibri"/>
              </a:defRPr>
            </a:pPr>
            <a:r>
              <a:t>Walnut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720" y="1371600"/>
            <a:ext cx="822960" cy="457200"/>
          </a:xfrm>
          <a:prstGeom prst="rect">
            <a:avLst/>
          </a:prstGeom>
          <a:solidFill>
            <a:srgbClr val="D4A574"/>
          </a:solidFill>
          <a:ln w="12700">
            <a:solidFill>
              <a:srgbClr val="C4B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0" y="1874519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B7D6B"/>
                </a:solidFill>
                <a:latin typeface="Calibri"/>
              </a:defRPr>
            </a:pPr>
            <a:r>
              <a:t>Sand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377440"/>
            <a:ext cx="5303520" cy="4023360"/>
          </a:xfrm>
          <a:prstGeom prst="roundRect">
            <a:avLst/>
          </a:prstGeom>
          <a:solidFill>
            <a:srgbClr val="FD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2560320"/>
            <a:ext cx="4937760" cy="457200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258775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← Hub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258775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Georgia"/>
              </a:defRPr>
            </a:pPr>
            <a:r>
              <a:t>Number Bonds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3200400"/>
            <a:ext cx="1280160" cy="320040"/>
          </a:xfrm>
          <a:prstGeom prst="round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321868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Explore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60320" y="3200400"/>
            <a:ext cx="1280160" cy="320040"/>
          </a:xfrm>
          <a:prstGeom prst="roundRect">
            <a:avLst/>
          </a:prstGeom>
          <a:solidFill>
            <a:srgbClr val="C17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60320" y="321868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Practice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023360" y="3200400"/>
            <a:ext cx="1280160" cy="32004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23360" y="321868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D2B1F"/>
                </a:solidFill>
                <a:latin typeface="Calibri"/>
              </a:defRPr>
            </a:pPr>
            <a:r>
              <a:t>Play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3749039"/>
            <a:ext cx="4937760" cy="2377440"/>
          </a:xfrm>
          <a:prstGeom prst="rect">
            <a:avLst/>
          </a:prstGeom>
          <a:solidFill>
            <a:srgbClr val="F4ED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743200" y="4023360"/>
            <a:ext cx="640080" cy="640080"/>
          </a:xfrm>
          <a:prstGeom prst="ellipse">
            <a:avLst/>
          </a:prstGeom>
          <a:solidFill>
            <a:srgbClr val="C17F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41148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2" name="Oval 31"/>
          <p:cNvSpPr/>
          <p:nvPr/>
        </p:nvSpPr>
        <p:spPr>
          <a:xfrm>
            <a:off x="1828800" y="5029200"/>
            <a:ext cx="548640" cy="548640"/>
          </a:xfrm>
          <a:prstGeom prst="ellipse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28800" y="509320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4" name="Oval 33"/>
          <p:cNvSpPr/>
          <p:nvPr/>
        </p:nvSpPr>
        <p:spPr>
          <a:xfrm>
            <a:off x="3657600" y="5029200"/>
            <a:ext cx="548640" cy="548640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0" y="509320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D2B1F"/>
                </a:solidFill>
                <a:latin typeface="Calibri"/>
              </a:defRPr>
            </a:pPr>
            <a:r>
              <a:t>?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2377440"/>
            <a:ext cx="5029200" cy="4023360"/>
          </a:xfrm>
          <a:prstGeom prst="roundRect">
            <a:avLst/>
          </a:prstGeom>
          <a:solidFill>
            <a:srgbClr val="FD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0" y="25603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B8F71"/>
                </a:solidFill>
                <a:latin typeface="Calibri"/>
              </a:defRPr>
            </a:pPr>
            <a:r>
              <a:t>STRENGTHS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301752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2B1F"/>
                </a:solidFill>
                <a:latin typeface="Calibri"/>
              </a:defRPr>
            </a:pPr>
            <a:r>
              <a:t>✓  Strongest connection to physical manipulatives — feels tangible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0" y="3520439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2B1F"/>
                </a:solidFill>
                <a:latin typeface="Calibri"/>
              </a:defRPr>
            </a:pPr>
            <a:r>
              <a:t>✓  Montessori/Waldorf alignment appeals to progressive educators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402336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2B1F"/>
                </a:solidFill>
                <a:latin typeface="Calibri"/>
              </a:defRPr>
            </a:pPr>
            <a:r>
              <a:t>✓  Earth tones are calming without being cold (warm + focused)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0" y="452628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D2B1F"/>
                </a:solidFill>
                <a:latin typeface="Calibri"/>
              </a:defRPr>
            </a:pPr>
            <a:r>
              <a:t>✓  Unique in ed-tech — stands apart from every competitor's look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50292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17F59"/>
                </a:solidFill>
                <a:latin typeface="Calibri"/>
              </a:defRPr>
            </a:pPr>
            <a:r>
              <a:t>CONSIDERATIONS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6560" y="54864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17F59"/>
                </a:solidFill>
                <a:latin typeface="Calibri"/>
              </a:defRPr>
            </a:pPr>
            <a:r>
              <a:t>⚠  Less energetic — may need gamification elements to sustain engagement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0" y="59436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17F59"/>
                </a:solidFill>
                <a:latin typeface="Calibri"/>
              </a:defRPr>
            </a:pPr>
            <a:r>
              <a:t>⚠  Color range limits coding (fewer distinct semantic colors available)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FF"/>
                </a:solidFill>
                <a:latin typeface="Calibri"/>
              </a:defRPr>
            </a:pPr>
            <a:r>
              <a:t>COMPARISON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B7280"/>
                </a:solidFill>
                <a:latin typeface="Calibri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2560320" y="1097280"/>
            <a:ext cx="173736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0" y="12344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4FF"/>
                </a:solidFill>
                <a:latin typeface="Calibri"/>
              </a:defRPr>
            </a:pPr>
            <a:r>
              <a:t>Neon Arcade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097280"/>
            <a:ext cx="173736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2344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6B35"/>
                </a:solidFill>
                <a:latin typeface="Calibri"/>
              </a:defRPr>
            </a:pPr>
            <a:r>
              <a:t>Sunrise</a:t>
            </a:r>
            <a:br/>
            <a:r>
              <a:t>Classroom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097280"/>
            <a:ext cx="173736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2344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B4D8"/>
                </a:solidFill>
                <a:latin typeface="Calibri"/>
              </a:defRPr>
            </a:pPr>
            <a:r>
              <a:t>Ocean</a:t>
            </a:r>
            <a:br/>
            <a:r>
              <a:t>Explorer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097280"/>
            <a:ext cx="1737360" cy="54864"/>
          </a:xfrm>
          <a:prstGeom prst="rect">
            <a:avLst/>
          </a:prstGeom>
          <a:solidFill>
            <a:srgbClr val="4A5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12344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A56E2"/>
                </a:solidFill>
                <a:latin typeface="Calibri"/>
              </a:defRPr>
            </a:pPr>
            <a:r>
              <a:t>Math Lab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875520" y="1097280"/>
            <a:ext cx="1737360" cy="54864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0" y="12344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B8F71"/>
                </a:solidFill>
                <a:latin typeface="Calibri"/>
              </a:defRPr>
            </a:pPr>
            <a:r>
              <a:t>Nature</a:t>
            </a:r>
            <a:br/>
            <a:r>
              <a:t>Workshop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1874520"/>
            <a:ext cx="10881360" cy="502920"/>
          </a:xfrm>
          <a:prstGeom prst="rect">
            <a:avLst/>
          </a:prstGeom>
          <a:solidFill>
            <a:srgbClr val="0F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19202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0A8B8"/>
                </a:solidFill>
                <a:latin typeface="Calibri"/>
              </a:defRPr>
            </a:pPr>
            <a:r>
              <a:t>Student Engagement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9202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BBF24"/>
                </a:solidFill>
                <a:latin typeface="Calibri"/>
              </a:defRPr>
            </a:pPr>
            <a:r>
              <a:t>★★★★★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19202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BBF24"/>
                </a:solidFill>
                <a:latin typeface="Calibri"/>
              </a:defRPr>
            </a:pPr>
            <a:r>
              <a:t>★★★☆☆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9202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BBF24"/>
                </a:solidFill>
                <a:latin typeface="Calibri"/>
              </a:defRPr>
            </a:pPr>
            <a:r>
              <a:t>★★★★☆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19202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BBF24"/>
                </a:solidFill>
                <a:latin typeface="Calibri"/>
              </a:defRPr>
            </a:pPr>
            <a:r>
              <a:t>★★★☆☆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19202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BBF24"/>
                </a:solidFill>
                <a:latin typeface="Calibri"/>
              </a:defRPr>
            </a:pPr>
            <a:r>
              <a:t>★★★☆☆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25146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0A8B8"/>
                </a:solidFill>
                <a:latin typeface="Calibri"/>
              </a:defRPr>
            </a:pPr>
            <a:r>
              <a:t>Focus / Calm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25146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BBF24"/>
                </a:solidFill>
                <a:latin typeface="Calibri"/>
              </a:defRPr>
            </a:pPr>
            <a:r>
              <a:t>★★★☆☆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25146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BBF24"/>
                </a:solidFill>
                <a:latin typeface="Calibri"/>
              </a:defRPr>
            </a:pPr>
            <a:r>
              <a:t>★★★★☆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25146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BBF24"/>
                </a:solidFill>
                <a:latin typeface="Calibri"/>
              </a:defRPr>
            </a:pPr>
            <a:r>
              <a:t>★★★★★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25146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BBF24"/>
                </a:solidFill>
                <a:latin typeface="Calibri"/>
              </a:defRPr>
            </a:pPr>
            <a:r>
              <a:t>★★★★☆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25146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BBF24"/>
                </a:solidFill>
                <a:latin typeface="Calibri"/>
              </a:defRPr>
            </a:pPr>
            <a:r>
              <a:t>★★★★★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3063240"/>
            <a:ext cx="10881360" cy="502920"/>
          </a:xfrm>
          <a:prstGeom prst="rect">
            <a:avLst/>
          </a:prstGeom>
          <a:solidFill>
            <a:srgbClr val="0F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31089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0A8B8"/>
                </a:solidFill>
                <a:latin typeface="Calibri"/>
              </a:defRPr>
            </a:pPr>
            <a:r>
              <a:t>Classroom Fit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0" y="310896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BBF24"/>
                </a:solidFill>
                <a:latin typeface="Calibri"/>
              </a:defRPr>
            </a:pPr>
            <a:r>
              <a:t>★★☆☆☆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310896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BBF24"/>
                </a:solidFill>
                <a:latin typeface="Calibri"/>
              </a:defRPr>
            </a:pPr>
            <a:r>
              <a:t>★★★★★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310896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BBF24"/>
                </a:solidFill>
                <a:latin typeface="Calibri"/>
              </a:defRPr>
            </a:pPr>
            <a:r>
              <a:t>★★★☆☆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310896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BBF24"/>
                </a:solidFill>
                <a:latin typeface="Calibri"/>
              </a:defRPr>
            </a:pPr>
            <a:r>
              <a:t>★★★★★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310896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BBF24"/>
                </a:solidFill>
                <a:latin typeface="Calibri"/>
              </a:defRPr>
            </a:pPr>
            <a:r>
              <a:t>★★★★☆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37033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0A8B8"/>
                </a:solidFill>
                <a:latin typeface="Calibri"/>
              </a:defRPr>
            </a:pPr>
            <a:r>
              <a:t>K Readability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60320" y="370332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BBF24"/>
                </a:solidFill>
                <a:latin typeface="Calibri"/>
              </a:defRPr>
            </a:pPr>
            <a:r>
              <a:t>★★★★☆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370332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BBF24"/>
                </a:solidFill>
                <a:latin typeface="Calibri"/>
              </a:defRPr>
            </a:pPr>
            <a:r>
              <a:t>★★★★★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370332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BBF24"/>
                </a:solidFill>
                <a:latin typeface="Calibri"/>
              </a:defRPr>
            </a:pPr>
            <a:r>
              <a:t>★★★★☆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0" y="370332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BBF24"/>
                </a:solidFill>
                <a:latin typeface="Calibri"/>
              </a:defRPr>
            </a:pPr>
            <a:r>
              <a:t>★★★★★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75520" y="370332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BBF24"/>
                </a:solidFill>
                <a:latin typeface="Calibri"/>
              </a:defRPr>
            </a:pPr>
            <a:r>
              <a:t>★★★★☆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4251960"/>
            <a:ext cx="10881360" cy="502920"/>
          </a:xfrm>
          <a:prstGeom prst="rect">
            <a:avLst/>
          </a:prstGeom>
          <a:solidFill>
            <a:srgbClr val="0F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42976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0A8B8"/>
                </a:solidFill>
                <a:latin typeface="Calibri"/>
              </a:defRPr>
            </a:pPr>
            <a:r>
              <a:t>Unique Identity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60320" y="42976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BBF24"/>
                </a:solidFill>
                <a:latin typeface="Calibri"/>
              </a:defRPr>
            </a:pPr>
            <a:r>
              <a:t>★★★★★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9120" y="42976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BBF24"/>
                </a:solidFill>
                <a:latin typeface="Calibri"/>
              </a:defRPr>
            </a:pPr>
            <a:r>
              <a:t>★★☆☆☆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42976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BBF24"/>
                </a:solidFill>
                <a:latin typeface="Calibri"/>
              </a:defRPr>
            </a:pPr>
            <a:r>
              <a:t>★★★★☆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46720" y="42976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BBF24"/>
                </a:solidFill>
                <a:latin typeface="Calibri"/>
              </a:defRPr>
            </a:pPr>
            <a:r>
              <a:t>★★★☆☆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75520" y="42976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BBF24"/>
                </a:solidFill>
                <a:latin typeface="Calibri"/>
              </a:defRPr>
            </a:pPr>
            <a:r>
              <a:t>★★★★★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48920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0A8B8"/>
                </a:solidFill>
                <a:latin typeface="Calibri"/>
              </a:defRPr>
            </a:pPr>
            <a:r>
              <a:t>Migration Cost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560320" y="48920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8ECF4"/>
                </a:solidFill>
                <a:latin typeface="Calibri"/>
              </a:defRPr>
            </a:pPr>
            <a:r>
              <a:t>None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89120" y="48920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8ECF4"/>
                </a:solidFill>
                <a:latin typeface="Calibri"/>
              </a:defRPr>
            </a:pPr>
            <a:r>
              <a:t>Full rebuild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0" y="48920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8ECF4"/>
                </a:solidFill>
                <a:latin typeface="Calibri"/>
              </a:defRPr>
            </a:pPr>
            <a:r>
              <a:t>Moderate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46720" y="48920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8ECF4"/>
                </a:solidFill>
                <a:latin typeface="Calibri"/>
              </a:defRPr>
            </a:pPr>
            <a:r>
              <a:t>Full rebuild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75520" y="48920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8ECF4"/>
                </a:solidFill>
                <a:latin typeface="Calibri"/>
              </a:defRPr>
            </a:pPr>
            <a:r>
              <a:t>Full rebuild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1520" y="5440680"/>
            <a:ext cx="10881360" cy="502920"/>
          </a:xfrm>
          <a:prstGeom prst="rect">
            <a:avLst/>
          </a:prstGeom>
          <a:solidFill>
            <a:srgbClr val="0F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2960" y="54864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0A8B8"/>
                </a:solidFill>
                <a:latin typeface="Calibri"/>
              </a:defRPr>
            </a:pPr>
            <a:r>
              <a:t>Best Grade Range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560320" y="54864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8ECF4"/>
                </a:solidFill>
                <a:latin typeface="Calibri"/>
              </a:defRPr>
            </a:pPr>
            <a:r>
              <a:t>1-5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89120" y="54864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8ECF4"/>
                </a:solidFill>
                <a:latin typeface="Calibri"/>
              </a:defRPr>
            </a:pPr>
            <a:r>
              <a:t>K-2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17920" y="54864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8ECF4"/>
                </a:solidFill>
                <a:latin typeface="Calibri"/>
              </a:defRPr>
            </a:pPr>
            <a:r>
              <a:t>3-8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46720" y="54864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8ECF4"/>
                </a:solidFill>
                <a:latin typeface="Calibri"/>
              </a:defRPr>
            </a:pPr>
            <a:r>
              <a:t>K-12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75520" y="54864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8ECF4"/>
                </a:solidFill>
                <a:latin typeface="Calibri"/>
              </a:defRPr>
            </a:pPr>
            <a:r>
              <a:t>K-3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A78BFA"/>
                </a:solidFill>
                <a:latin typeface="Calibri"/>
              </a:defRPr>
            </a:pPr>
            <a:r>
              <a:t>MY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From a math teacher's perspective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572000"/>
          </a:xfrm>
          <a:prstGeom prst="roundRect">
            <a:avLst/>
          </a:prstGeom>
          <a:solidFill>
            <a:srgbClr val="141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47472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  <a:latin typeface="Calibri"/>
              </a:defRPr>
            </a:pPr>
            <a:r>
              <a:t>SHORT TERM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ECF4"/>
                </a:solidFill>
                <a:latin typeface="Calibri"/>
              </a:defRPr>
            </a:pPr>
            <a:r>
              <a:t>Keep Neon Arcade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17520"/>
            <a:ext cx="2926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8B8"/>
                </a:solidFill>
                <a:latin typeface="Calibri"/>
              </a:defRPr>
            </a:pPr>
            <a:r>
              <a:t>Our 45+ tools already use this system. Refine it — add audio narration, misconception feedback, and progress bars. Don't throw away working infrastructure.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645920"/>
            <a:ext cx="3474720" cy="4572000"/>
          </a:xfrm>
          <a:prstGeom prst="roundRect">
            <a:avLst/>
          </a:prstGeom>
          <a:solidFill>
            <a:srgbClr val="141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1645920"/>
            <a:ext cx="347472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79" y="1920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78BFA"/>
                </a:solidFill>
                <a:latin typeface="Calibri"/>
              </a:defRPr>
            </a:pPr>
            <a:r>
              <a:t>MEDIUM TERM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3774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ECF4"/>
                </a:solidFill>
                <a:latin typeface="Calibri"/>
              </a:defRPr>
            </a:pPr>
            <a:r>
              <a:t>Age-Adaptive Themes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3017520"/>
            <a:ext cx="2926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8B8"/>
                </a:solidFill>
                <a:latin typeface="Calibri"/>
              </a:defRPr>
            </a:pPr>
            <a:r>
              <a:t>Let the HUB offer a theme toggle: K-2 gets Sunrise Classroom warmth, 3-5 gets Neon Arcade energy, 6-8 gets Ocean Explorer focus. Same tools, different visual wrapping.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645920"/>
            <a:ext cx="3474720" cy="4572000"/>
          </a:xfrm>
          <a:prstGeom prst="roundRect">
            <a:avLst/>
          </a:prstGeom>
          <a:solidFill>
            <a:srgbClr val="1419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645920"/>
            <a:ext cx="3474720" cy="54864"/>
          </a:xfrm>
          <a:prstGeom prst="rect">
            <a:avLst/>
          </a:prstGeom>
          <a:solidFill>
            <a:srgbClr val="FF3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1920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3B8B"/>
                </a:solidFill>
                <a:latin typeface="Calibri"/>
              </a:defRPr>
            </a:pPr>
            <a:r>
              <a:t>BIG PICTURE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3774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ECF4"/>
                </a:solidFill>
                <a:latin typeface="Calibri"/>
              </a:defRPr>
            </a:pPr>
            <a:r>
              <a:t>Hybrid Design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017520"/>
            <a:ext cx="2926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8B8"/>
                </a:solidFill>
                <a:latin typeface="Calibri"/>
              </a:defRPr>
            </a:pPr>
            <a:r>
              <a:t>Build a CSS variable layer so ANY look can be applied to ANY tool. Teacher picks the theme. Nature Workshop for Montessori schools, Math Lab for districts. One codebase, five faces.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