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1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Georgia"/>
              </a:defRPr>
            </a:pPr>
            <a:r>
              <a:t>VINCULUM Narrative Context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6B35"/>
                </a:solidFill>
                <a:latin typeface="Georgia"/>
              </a:defRPr>
            </a:pPr>
            <a:r>
              <a:t>Turning Math Tools into Stories Students Can See, Hear, and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7E8D1"/>
                </a:solidFill>
                <a:latin typeface="Calibri"/>
              </a:defRPr>
            </a:pPr>
            <a:r>
              <a:t>Design &amp; Research Report — March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931920"/>
            <a:ext cx="9144000" cy="13716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2D3142"/>
                </a:solidFill>
                <a:latin typeface="Georgia"/>
              </a:defRPr>
            </a:pPr>
            <a:r>
              <a:t>The Problem: 'Try Again' Isn't Teaching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931920" cy="2926080"/>
          </a:xfrm>
          <a:prstGeom prst="rect">
            <a:avLst/>
          </a:prstGeom>
          <a:solidFill>
            <a:srgbClr val="FFFFFF"/>
          </a:solidFill>
          <a:ln w="381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C0000"/>
                </a:solidFill>
                <a:latin typeface="Calibri"/>
              </a:defRPr>
            </a:pPr>
            <a:r>
              <a:t>CURRENT: No context, broken grammar, no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D3142"/>
                </a:solidFill>
                <a:latin typeface="Georgia"/>
              </a:defRPr>
            </a:pPr>
            <a:r>
              <a:t>4 garden. 3 more garden come!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142"/>
                </a:solidFill>
                <a:latin typeface="Calibri"/>
              </a:defRPr>
            </a:pPr>
            <a:r>
              <a:t>A student reading this at home is confused. No context. No story. No idea what to do next.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097280"/>
            <a:ext cx="3931920" cy="2926080"/>
          </a:xfrm>
          <a:prstGeom prst="rect">
            <a:avLst/>
          </a:prstGeom>
          <a:solidFill>
            <a:srgbClr val="FFFFFF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Calibri"/>
              </a:defRPr>
            </a:pPr>
            <a:r>
              <a:t>PROPOSED: Rich narrative, clear context, read-aloud 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82880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3142"/>
                </a:solidFill>
                <a:latin typeface="Georgia"/>
              </a:defRPr>
            </a:pPr>
            <a:r>
              <a:t>Maya planted 4 flowers in her garden. Then 3 more flowers bloomed in the sunshine! How many flowers does Maya have now?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4747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142"/>
                </a:solidFill>
                <a:latin typeface="Calibri"/>
              </a:defRPr>
            </a:pPr>
            <a:r>
              <a:t>Student understands the situation, hears it read aloud, and knows exactly what to solve.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2D3142"/>
                </a:solidFill>
                <a:latin typeface="Georgia"/>
              </a:defRPr>
            </a:pPr>
            <a:r>
              <a:t>What the Research Says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931920" cy="22860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19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35"/>
                </a:solidFill>
                <a:latin typeface="Calibri"/>
              </a:defRPr>
            </a:pPr>
            <a:r>
              <a:t>58%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142"/>
                </a:solidFill>
                <a:latin typeface="Calibri"/>
              </a:defRPr>
            </a:pPr>
            <a:r>
              <a:t>increase in correct solutions when 2nd graders used story-based math</a:t>
            </a:r>
            <a:br/>
            <a:r>
              <a:t>(Bratitsis &amp; Mantellou, 2020)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0" y="1097280"/>
            <a:ext cx="3931920" cy="22860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417319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35"/>
                </a:solidFill>
                <a:latin typeface="Calibri"/>
              </a:defRPr>
            </a:pPr>
            <a:r>
              <a:t>Dual-Coding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82880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142"/>
                </a:solidFill>
                <a:latin typeface="Calibri"/>
              </a:defRPr>
            </a:pPr>
            <a:r>
              <a:t>Verbal narrative + visual imagery = stronger memory encoding</a:t>
            </a:r>
            <a:br/>
            <a:r>
              <a:t>(Paivio, 1986; NCTM)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26080"/>
            <a:ext cx="39319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3931920" cy="22860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461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35"/>
                </a:solidFill>
                <a:latin typeface="Calibri"/>
              </a:defRPr>
            </a:pPr>
            <a:r>
              <a:t>3-Reads Protocol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142"/>
                </a:solidFill>
                <a:latin typeface="Calibri"/>
              </a:defRPr>
            </a:pPr>
            <a:r>
              <a:t>Read for story → Read for math → Read for question.</a:t>
            </a:r>
            <a:br/>
            <a:r>
              <a:t>Builds independence (SFUSD)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926080"/>
            <a:ext cx="39319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2926080"/>
            <a:ext cx="3931920" cy="22860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32461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35"/>
                </a:solidFill>
                <a:latin typeface="Calibri"/>
              </a:defRPr>
            </a:pPr>
            <a:r>
              <a:t>UDL Principle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65760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142"/>
                </a:solidFill>
                <a:latin typeface="Calibri"/>
              </a:defRPr>
            </a:pPr>
            <a:r>
              <a:t>Multiple means of representation: text + audio + visual</a:t>
            </a:r>
            <a:br/>
            <a:r>
              <a:t>(CAST Guidelines)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2D3142"/>
                </a:solidFill>
                <a:latin typeface="Georgia"/>
              </a:defRPr>
            </a:pPr>
            <a:r>
              <a:t>Supporting Research &amp; Standards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Academic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2D3142"/>
                </a:solidFill>
                <a:latin typeface="Calibri"/>
              </a:defRPr>
            </a:pPr>
            <a:r>
              <a:t>Meta-analysis: storytelling improves conceptual understanding, motivation, and problem-solving (RSIS International, 2024)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2D3142"/>
                </a:solidFill>
                <a:latin typeface="Calibri"/>
              </a:defRPr>
            </a:pPr>
            <a:r>
              <a:t>Digital stories enhance mathematical reasoning, self-efficacy, and reduce math anxiety (Springer, 2024)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2D3142"/>
                </a:solidFill>
                <a:latin typeface="Calibri"/>
              </a:defRPr>
            </a:pPr>
            <a:r>
              <a:t>Real-world stories more effective than fictional or abstract (MDPI Education Sciences)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2D3142"/>
                </a:solidFill>
                <a:latin typeface="Calibri"/>
              </a:defRPr>
            </a:pPr>
            <a:r>
              <a:t>NCTM: Representations are essential elements supporting student understanding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2344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State &amp; National Standards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6916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2D3142"/>
                </a:solidFill>
                <a:latin typeface="Calibri"/>
              </a:defRPr>
            </a:pPr>
            <a:r>
              <a:t>Minnesota 2022 Standards: 'Use context to do and learn mathematics'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1945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2D3142"/>
                </a:solidFill>
                <a:latin typeface="Calibri"/>
              </a:defRPr>
            </a:pPr>
            <a:r>
              <a:t>MN: 'Connect problem-solving to students' lived experiences, cultural perspectives'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6974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2D3142"/>
                </a:solidFill>
                <a:latin typeface="Calibri"/>
              </a:defRPr>
            </a:pPr>
            <a:r>
              <a:t>Common Core Mathematical Practices: Make sense of problems, model with mathematics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2004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2D3142"/>
                </a:solidFill>
                <a:latin typeface="Calibri"/>
              </a:defRPr>
            </a:pPr>
            <a:r>
              <a:t>CAST UDL: Engagement, Representation, Action &amp; Expression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2D3142"/>
                </a:solidFill>
                <a:latin typeface="Georgia"/>
              </a:defRPr>
            </a:pPr>
            <a:r>
              <a:t>Narrative Context System: 3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2834640" cy="34747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2834640" cy="32004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6128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LAYER 1: Story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142"/>
                </a:solidFill>
                <a:latin typeface="Calibri"/>
              </a:defRPr>
            </a:pPr>
            <a:r>
              <a:t>Hand-crafted story templates per tool. Characters, settings, actions. Grammatically correct. Culturally diverse. Multiple stories per concept.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097280"/>
            <a:ext cx="2834640" cy="3474720"/>
          </a:xfrm>
          <a:prstGeom prst="rect">
            <a:avLst/>
          </a:prstGeom>
          <a:solidFill>
            <a:srgbClr val="FFFFFF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54680" y="1097280"/>
            <a:ext cx="2834640" cy="32004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16128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LAYER 2: Read-Aloud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55448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142"/>
                </a:solidFill>
                <a:latin typeface="Calibri"/>
              </a:defRPr>
            </a:pPr>
            <a:r>
              <a:t>Web Speech API (SpeechSynthesis). Every story auto-narrated. Adjustable speed. Highlight-as-you-read. Works on all browsers.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097280"/>
            <a:ext cx="2834640" cy="3474720"/>
          </a:xfrm>
          <a:prstGeom prst="rect">
            <a:avLst/>
          </a:prstGeom>
          <a:solidFill>
            <a:srgbClr val="FFFFFF"/>
          </a:solidFill>
          <a:ln w="38100"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1097280"/>
            <a:ext cx="2834640" cy="320040"/>
          </a:xfrm>
          <a:prstGeom prst="rect">
            <a:avLst/>
          </a:prstGeom>
          <a:solidFill>
            <a:srgbClr val="B85042"/>
          </a:solidFill>
          <a:ln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16128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LAYER 3: Progressive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55448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142"/>
                </a:solidFill>
                <a:latin typeface="Calibri"/>
              </a:defRPr>
            </a:pPr>
            <a:r>
              <a:t>3-Reads Protocol built in. First: hear the story. Second: see the math. Third: solve. Prompts + highlights show where to go.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2D3142"/>
                </a:solidFill>
                <a:latin typeface="Georgia"/>
              </a:defRPr>
            </a:pPr>
            <a:r>
              <a:t>Layer 1: Story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142"/>
                </a:solidFill>
                <a:latin typeface="Calibri"/>
              </a:defRPr>
            </a:pPr>
            <a:r>
              <a:t>Each tool gets a STORIES object — an array of narrative templates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8229600" cy="1828800"/>
          </a:xfrm>
          <a:prstGeom prst="rect">
            <a:avLst/>
          </a:prstGeom>
          <a:solidFill>
            <a:srgbClr val="F0F0F0"/>
          </a:solidFill>
          <a:ln w="12700">
            <a:solidFill>
              <a:srgbClr val="2D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7863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142"/>
                </a:solidFill>
                <a:latin typeface="Calibri"/>
              </a:defRPr>
            </a:pPr>
            <a:r>
              <a:t>STORIES = [</a:t>
            </a:r>
            <a:br/>
            <a:r>
              <a:t>  { character: "Maya", setting: "garden",</a:t>
            </a:r>
            <a:br/>
            <a:r>
              <a:t>    verb: "planted", object: "flowers",</a:t>
            </a:r>
            <a:br/>
            <a:r>
              <a:t>    template: "{char} {verb} {a} {obj}..." },</a:t>
            </a:r>
            <a:br/>
            <a:r>
              <a:t>  { character: "Kai", setting: "beach",</a:t>
            </a:r>
            <a:br/>
            <a:r>
              <a:t>    verb: "found", object: "shells", ... }</a:t>
            </a:r>
            <a:br/>
            <a:r>
              <a:t>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85042"/>
                </a:solidFill>
                <a:latin typeface="Calibri"/>
              </a:defRPr>
            </a:pPr>
            <a:r>
              <a:t>10-15 stories per tool, rotating randomly. Real-world contexts. Diverse characters.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2D3142"/>
                </a:solidFill>
                <a:latin typeface="Calibri"/>
              </a:defRPr>
            </a:pPr>
            <a:r>
              <a:t>Grammatically correct natural 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2D3142"/>
                </a:solidFill>
                <a:latin typeface="Calibri"/>
              </a:defRPr>
            </a:pPr>
            <a:r>
              <a:t>Culturally responsive characters and scenarios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2D3142"/>
                </a:solidFill>
                <a:latin typeface="Calibri"/>
              </a:defRPr>
            </a:pPr>
            <a:r>
              <a:t>Template-driven for consistency and scalability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2D3142"/>
                </a:solidFill>
                <a:latin typeface="Georgia"/>
              </a:defRPr>
            </a:pPr>
            <a:r>
              <a:t>Layer 2: Universal Read-Aloud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Technical Specifications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2D3142"/>
                </a:solidFill>
                <a:latin typeface="Calibri"/>
              </a:defRPr>
            </a:pPr>
            <a:r>
              <a:t>Built on Web Speech API (SpeechSynthesis)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8483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2D3142"/>
                </a:solidFill>
                <a:latin typeface="Calibri"/>
              </a:defRPr>
            </a:pPr>
            <a:r>
              <a:t>Zero dependencies — native browser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2374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2D3142"/>
                </a:solidFill>
                <a:latin typeface="Calibri"/>
              </a:defRPr>
            </a:pPr>
            <a:r>
              <a:t>Adjustable rate: 0.7x (slow) to 1.2x (normal)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6265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2D3142"/>
                </a:solidFill>
                <a:latin typeface="Calibri"/>
              </a:defRPr>
            </a:pPr>
            <a:r>
              <a:t>Sentence-by-sentence highlighting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0156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2D3142"/>
                </a:solidFill>
                <a:latin typeface="Calibri"/>
              </a:defRPr>
            </a:pPr>
            <a:r>
              <a:t>Auto-reads story on load (can be toggled off)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2D3142"/>
                </a:solidFill>
                <a:latin typeface="Calibri"/>
              </a:defRPr>
            </a:pPr>
            <a:r>
              <a:t>Speaker icon button on every tool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2344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Calibri"/>
              </a:defRPr>
            </a:pPr>
            <a:r>
              <a:t>Implementation in vinculum-core.js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6459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2D3142"/>
                </a:solidFill>
                <a:latin typeface="Calibri"/>
              </a:defRPr>
            </a:pPr>
            <a:r>
              <a:t>Universal function: readAloud(text, options)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2402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2D3142"/>
                </a:solidFill>
                <a:latin typeface="Calibri"/>
              </a:defRPr>
            </a:pPr>
            <a:r>
              <a:t>Hooks into existing Read-to-Me system in 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8346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2D3142"/>
                </a:solidFill>
                <a:latin typeface="Calibri"/>
              </a:defRPr>
            </a:pPr>
            <a:r>
              <a:t>Respects accessibility settings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429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2D3142"/>
                </a:solidFill>
                <a:latin typeface="Calibri"/>
              </a:defRPr>
            </a:pPr>
            <a:r>
              <a:t>Falls back gracefully if TTS unavailable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2D3142"/>
                </a:solidFill>
                <a:latin typeface="Georgia"/>
              </a:defRPr>
            </a:pPr>
            <a:r>
              <a:t>Layer 3: Progressive Scaffolding (3-Reads Protocol)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56032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08760" y="1005840"/>
            <a:ext cx="457200" cy="457200"/>
          </a:xfrm>
          <a:prstGeom prst="ellipse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1005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6B35"/>
                </a:solidFill>
                <a:latin typeface="Georgia"/>
              </a:defRPr>
            </a:pPr>
            <a:r>
              <a:t>READ 1: The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142"/>
                </a:solidFill>
                <a:latin typeface="Calibri"/>
              </a:defRPr>
            </a:pPr>
            <a:r>
              <a:t>Student hears/reads the narrative. No numbers shown yet. Just the situation. 'Maya is in her garden planting flowers...'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097280"/>
            <a:ext cx="256032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51960" y="1005840"/>
            <a:ext cx="457200" cy="457200"/>
          </a:xfrm>
          <a:prstGeom prst="ellipse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005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325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Georgia"/>
              </a:defRPr>
            </a:pPr>
            <a:r>
              <a:t>READ 2: The Math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8288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142"/>
                </a:solidFill>
                <a:latin typeface="Calibri"/>
              </a:defRPr>
            </a:pPr>
            <a:r>
              <a:t>Numbers appear. Objects highlight. 'She planted 4 flowers. Then 3 more bloomed.' Student sees the math emerge from the story.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097280"/>
            <a:ext cx="256032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995160" y="1005840"/>
            <a:ext cx="457200" cy="457200"/>
          </a:xfrm>
          <a:prstGeom prst="ellipse">
            <a:avLst/>
          </a:prstGeom>
          <a:solidFill>
            <a:srgbClr val="B85042"/>
          </a:solidFill>
          <a:ln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1005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325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85042"/>
                </a:solidFill>
                <a:latin typeface="Georgia"/>
              </a:defRPr>
            </a:pPr>
            <a:r>
              <a:t>READ 3: The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18288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142"/>
                </a:solidFill>
                <a:latin typeface="Calibri"/>
              </a:defRPr>
            </a:pPr>
            <a:r>
              <a:t>The problem appears. Counters/tools activate. 'How many flowers does Maya have now?' Student knows what to 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142"/>
                </a:solidFill>
                <a:latin typeface="Calibri"/>
              </a:defRPr>
            </a:pPr>
            <a:r>
              <a:t>Each read can be auto-paced or student-controlled. Highlighted UI elements pulse to show where to interact next.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2D3142"/>
                </a:solidFill>
                <a:latin typeface="Georgia"/>
              </a:defRPr>
            </a:pPr>
            <a:r>
              <a:t>Story Problem Theater → Every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142"/>
                </a:solidFill>
                <a:latin typeface="Calibri"/>
              </a:defRPr>
            </a:pPr>
            <a:r>
              <a:t>The Story Problem Theater already has the right idea. We're extending this pattern to ALL tools as an optional Explore mode.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733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Calibri"/>
              </a:defRPr>
            </a:pPr>
            <a:r>
              <a:t>Number Bonds: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6733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142"/>
                </a:solidFill>
                <a:latin typeface="Calibri"/>
              </a:defRPr>
            </a:pPr>
            <a:r>
              <a:t>'Kai has 7 toy cars. Some are red and some are blue. Can you find all the ways to split them?'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591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Calibri"/>
              </a:defRPr>
            </a:pPr>
            <a:r>
              <a:t>Shape Sorter: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3591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142"/>
                </a:solidFill>
                <a:latin typeface="Calibri"/>
              </a:defRPr>
            </a:pPr>
            <a:r>
              <a:t>'Chef Luna is organizing cookie cutters. Stars go on one shelf, circles on another. Help her sort!'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7180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449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Calibri"/>
              </a:defRPr>
            </a:pPr>
            <a:r>
              <a:t>Counting Objects: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0449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142"/>
                </a:solidFill>
                <a:latin typeface="Calibri"/>
              </a:defRPr>
            </a:pPr>
            <a:r>
              <a:t>'Farmer Tomás picked apples from his tree. Count them as they fall into the basket!'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307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Calibri"/>
              </a:defRPr>
            </a:pPr>
            <a:r>
              <a:t>Measurement Compare: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7307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142"/>
                </a:solidFill>
                <a:latin typeface="Calibri"/>
              </a:defRPr>
            </a:pPr>
            <a:r>
              <a:t>'Two snakes at the zoo! Sunny is long and Ziggy is short. Which snake is longer?'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2D3142"/>
                </a:solidFill>
                <a:latin typeface="Georgia"/>
              </a:defRPr>
            </a:pPr>
            <a:r>
              <a:t>Explore Mode: Narrative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5943600" cy="731520"/>
          </a:xfrm>
          <a:prstGeom prst="rect">
            <a:avLst/>
          </a:prstGeom>
          <a:solidFill>
            <a:srgbClr val="E7E8D1"/>
          </a:solidFill>
          <a:ln w="12700"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142"/>
                </a:solidFill>
                <a:latin typeface="Calibri"/>
              </a:defRPr>
            </a:pPr>
            <a:r>
              <a:t>📖 Story Banner — warm cream background, large readable text, speaker icon for read-aloud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943600" cy="1097280"/>
          </a:xfrm>
          <a:prstGeom prst="rect">
            <a:avLst/>
          </a:prstGeom>
          <a:solidFill>
            <a:srgbClr val="E8F5E9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142"/>
                </a:solidFill>
                <a:latin typeface="Calibri"/>
              </a:defRPr>
            </a:pPr>
            <a:r>
              <a:t>🎭 Visual Stage — animated objects that match the story (flowers growing, shells appearing)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17520"/>
            <a:ext cx="5943600" cy="731520"/>
          </a:xfrm>
          <a:prstGeom prst="rect">
            <a:avLst/>
          </a:prstGeom>
          <a:solidFill>
            <a:srgbClr val="E3F2FD"/>
          </a:solidFill>
          <a:ln w="25400"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142"/>
                </a:solidFill>
                <a:latin typeface="Calibri"/>
              </a:defRPr>
            </a:pPr>
            <a:r>
              <a:t>➕ Math Workspace — equation/manipulatives appear after Read 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005840"/>
            <a:ext cx="210312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1430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35"/>
                </a:solidFill>
                <a:latin typeface="Georgia"/>
              </a:defRPr>
            </a:pPr>
            <a:r>
              <a:t>How To 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0840" y="1508760"/>
            <a:ext cx="1463040" cy="32004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508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Step 1 (Highlighted)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1920240"/>
            <a:ext cx="1463040" cy="320040"/>
          </a:xfrm>
          <a:prstGeom prst="rect">
            <a:avLst/>
          </a:prstGeom>
          <a:solidFill>
            <a:srgbClr val="E7E8D1"/>
          </a:solidFill>
          <a:ln>
            <a:solidFill>
              <a:srgbClr val="E7E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920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D3142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0840" y="2331720"/>
            <a:ext cx="1463040" cy="320040"/>
          </a:xfrm>
          <a:prstGeom prst="rect">
            <a:avLst/>
          </a:prstGeom>
          <a:solidFill>
            <a:srgbClr val="E7E8D1"/>
          </a:solidFill>
          <a:ln>
            <a:solidFill>
              <a:srgbClr val="E7E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331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D3142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2743200"/>
            <a:ext cx="1463040" cy="320040"/>
          </a:xfrm>
          <a:prstGeom prst="rect">
            <a:avLst/>
          </a:prstGeom>
          <a:solidFill>
            <a:srgbClr val="E7E8D1"/>
          </a:solidFill>
          <a:ln>
            <a:solidFill>
              <a:srgbClr val="E7E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743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D3142"/>
                </a:solidFill>
                <a:latin typeface="Calibri"/>
              </a:defRPr>
            </a:pPr>
            <a:r>
              <a:t>'Next' button pulses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142"/>
                </a:solidFill>
                <a:latin typeface="Calibri"/>
              </a:defRPr>
            </a:pPr>
            <a:r>
              <a:t>Pulsing blue glow guides student to next action. No dead ends.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2D3142"/>
                </a:solidFill>
                <a:latin typeface="Georgia"/>
              </a:defRPr>
            </a:pPr>
            <a:r>
              <a:t>Production Needs &amp;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097280" cy="59436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698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Georgia"/>
              </a:defRPr>
            </a:pPr>
            <a:r>
              <a:t>Phase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 weeks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1051560"/>
            <a:ext cx="7040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097280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142"/>
                </a:solidFill>
                <a:latin typeface="Calibri"/>
              </a:defRPr>
            </a:pPr>
            <a:r>
              <a:t>Story Engine — Write 10-15 stories per K tool. Build vinculum-stories.js with template engine.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1097280" cy="59436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013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Georgia"/>
              </a:defRPr>
            </a:pPr>
            <a:r>
              <a:t>Phase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 week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1783080"/>
            <a:ext cx="7040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142"/>
                </a:solidFill>
                <a:latin typeface="Calibri"/>
              </a:defRPr>
            </a:pPr>
            <a:r>
              <a:t>Read-Aloud System — Add SpeechSynthesis wrapper to vinculum-core.js. Speaker button component.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14600"/>
            <a:ext cx="1097280" cy="594360"/>
          </a:xfrm>
          <a:prstGeom prst="rect">
            <a:avLst/>
          </a:prstGeom>
          <a:solidFill>
            <a:srgbClr val="B85042"/>
          </a:solidFill>
          <a:ln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328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Georgia"/>
              </a:defRPr>
            </a:pPr>
            <a:r>
              <a:t>Phase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8346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 weeks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0" y="2514600"/>
            <a:ext cx="7040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2560320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142"/>
                </a:solidFill>
                <a:latin typeface="Calibri"/>
              </a:defRPr>
            </a:pPr>
            <a:r>
              <a:t>Progressive Guide — 3-Reads mode in Explore. Step-by-step reveal logic. Pulse/highlight system.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46120"/>
            <a:ext cx="1097280" cy="594360"/>
          </a:xfrm>
          <a:prstGeom prst="rect">
            <a:avLst/>
          </a:prstGeom>
          <a:solidFill>
            <a:srgbClr val="2D3142"/>
          </a:solidFill>
          <a:ln>
            <a:solidFill>
              <a:srgbClr val="2D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644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Georgia"/>
              </a:defRPr>
            </a:pPr>
            <a:r>
              <a:t>Phase 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5661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 week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0" y="3246120"/>
            <a:ext cx="7040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D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3291839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142"/>
                </a:solidFill>
                <a:latin typeface="Calibri"/>
              </a:defRPr>
            </a:pPr>
            <a:r>
              <a:t>QA &amp; Polish — Test all 15 K tools. Cross-browser TTS testing. Story review.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85042"/>
                </a:solidFill>
                <a:latin typeface="Calibri"/>
              </a:defRPr>
            </a:pPr>
            <a:r>
              <a:t>Phase E (ongoing): Expand — Grade 1, Grade 2, all remaining tools. Community story contributions.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1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6B35"/>
                </a:solidFill>
                <a:latin typeface="Georgia"/>
              </a:defRPr>
            </a:pPr>
            <a:r>
              <a:t>From 'Try Again' to 'Tell Me a Story'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76809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142"/>
                </a:solidFill>
                <a:latin typeface="Calibri"/>
              </a:defRPr>
            </a:pPr>
            <a:r>
              <a:t>Every tool gets hand-crafted, grammatically perfect stories with diverse characters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65960"/>
            <a:ext cx="76809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79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142"/>
                </a:solidFill>
                <a:latin typeface="Calibri"/>
              </a:defRPr>
            </a:pPr>
            <a:r>
              <a:t>Universal read-aloud via Web Speech API — zero cost, works everywhere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76809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06039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142"/>
                </a:solidFill>
                <a:latin typeface="Calibri"/>
              </a:defRPr>
            </a:pPr>
            <a:r>
              <a:t>3-Reads Protocol gives students a progressive path to independence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54679"/>
            <a:ext cx="76809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00399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142"/>
                </a:solidFill>
                <a:latin typeface="Calibri"/>
              </a:defRPr>
            </a:pPr>
            <a:r>
              <a:t>Story Problem Theater pattern scales to all 45+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Ready to build. Phase A (Story Engine) can start immediately.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